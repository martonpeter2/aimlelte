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66" r:id="rId17"/>
  </p:sldIdLst>
  <p:sldSz cx="9144000" cy="5143500" type="screen16x9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444240"/>
            <a:ext cx="7722720" cy="243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1313280"/>
            <a:ext cx="6575760" cy="1323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7400" b="1" u="none" strike="noStrike">
                <a:solidFill>
                  <a:schemeClr val="accen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7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228600" y="89604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228600" y="228060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2751840" y="89604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2751840" y="228060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228600" y="366516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title"/>
          </p:nvPr>
        </p:nvSpPr>
        <p:spPr>
          <a:xfrm>
            <a:off x="2751840" y="3665160"/>
            <a:ext cx="734400" cy="55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body"/>
          </p:nvPr>
        </p:nvSpPr>
        <p:spPr>
          <a:xfrm>
            <a:off x="5655240" y="896040"/>
            <a:ext cx="3259800" cy="40183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28600" y="888480"/>
            <a:ext cx="7495920" cy="1507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2760" cy="98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778280" y="228600"/>
            <a:ext cx="4137120" cy="46861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28600" y="891720"/>
            <a:ext cx="3602520" cy="402300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0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669600"/>
            <a:ext cx="5617080" cy="12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Google Shape;86;p18"/>
          <p:cNvSpPr/>
          <p:nvPr/>
        </p:nvSpPr>
        <p:spPr>
          <a:xfrm>
            <a:off x="6732360" y="3519720"/>
            <a:ext cx="218268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28600" y="766440"/>
            <a:ext cx="6203880" cy="2930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7263360" y="803160"/>
            <a:ext cx="1651680" cy="110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28960" y="2807640"/>
            <a:ext cx="3693240" cy="18655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94;p2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97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28600" y="447840"/>
            <a:ext cx="7724520" cy="242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Profit-optimalizált díjszámítás</a:t>
            </a:r>
            <a:endParaRPr lang="fr-FR" sz="7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2676600" y="3009960"/>
            <a:ext cx="6238440" cy="828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Kárinfláció és területi hatások 2025Q2-ben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Google Shape;107;p25"/>
          <p:cNvSpPr/>
          <p:nvPr/>
        </p:nvSpPr>
        <p:spPr>
          <a:xfrm rot="16200000">
            <a:off x="-304560" y="3972240"/>
            <a:ext cx="82836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u-HU" sz="8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2025-09-04</a:t>
            </a:r>
            <a:endParaRPr lang="en-US" sz="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41" name="Google Shape;108;p25"/>
          <p:cNvCxnSpPr/>
          <p:nvPr/>
        </p:nvCxnSpPr>
        <p:spPr>
          <a:xfrm>
            <a:off x="114120" y="4451760"/>
            <a:ext cx="360" cy="7491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42" name="Google Shape;109;p25"/>
          <p:cNvCxnSpPr/>
          <p:nvPr/>
        </p:nvCxnSpPr>
        <p:spPr>
          <a:xfrm>
            <a:off x="5219280" y="3838320"/>
            <a:ext cx="36964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aphicFrame>
        <p:nvGraphicFramePr>
          <p:cNvPr id="2" name="Objektum 1">
            <a:extLst>
              <a:ext uri="{FF2B5EF4-FFF2-40B4-BE49-F238E27FC236}">
                <a16:creationId xmlns:a16="http://schemas.microsoft.com/office/drawing/2014/main" id="{A009232A-A73A-0772-136B-48F617BA3C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522617"/>
              </p:ext>
            </p:extLst>
          </p:nvPr>
        </p:nvGraphicFramePr>
        <p:xfrm>
          <a:off x="8348303" y="133515"/>
          <a:ext cx="566737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67353" imgH="628674" progId="PBrush">
                  <p:embed/>
                </p:oleObj>
              </mc:Choice>
              <mc:Fallback>
                <p:oleObj name="Bitmap Image" r:id="rId2" imgW="567353" imgH="628674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48303" y="133515"/>
                        <a:ext cx="566737" cy="628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8600" y="88596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Bevezetés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2523960" y="2629080"/>
            <a:ext cx="639108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A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prezentáció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bemutatja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a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kárinfláció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,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kárgyakoriság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és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zip-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szintű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területi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hatások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figyelembevételével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optimalizált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díjszámítási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stratégiát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2025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második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negyedévére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28600" y="88596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Kárinfláció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és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kárgyakoriság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kezelése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2523960" y="2629080"/>
            <a:ext cx="639108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Hind"/>
              <a:ea typeface="Hi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28600" y="88596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Kárinfláció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diszkontálása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és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ELTÉs 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implementáció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2523960" y="2629080"/>
            <a:ext cx="639108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Jelenleg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az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inflációt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az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5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negyedévvel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korábbi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átlagbér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diszkontálásával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kezeljük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.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Javasoljuk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az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inflációs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hatás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normalizált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átlagbérrel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történő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ábrázolását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és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az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ELTÉs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implementációját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a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pontosabb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értékelés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érdekében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Kárgyakoriság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covid-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hatás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semlegesítése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228600" y="2219400"/>
            <a:ext cx="4352400" cy="269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Jelenleg nincs korrekció a kárgyakoriságra. Javasolt a Covid-19 járvány hatásának semlegesítése exponenciális súlyozott átlaggal, 2011–2019 és 2020–2024 időszakokra bontva a pontosabb becslésért.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1" name="Google Shape;189;p30"/>
          <p:cNvPicPr/>
          <p:nvPr/>
        </p:nvPicPr>
        <p:blipFill>
          <a:blip r:embed="rId2"/>
          <a:srcRect l="6496" r="5217"/>
          <a:stretch/>
        </p:blipFill>
        <p:spPr>
          <a:xfrm>
            <a:off x="4778280" y="228600"/>
            <a:ext cx="4136760" cy="468612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28600" y="88596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Vizualizációk: inflációs hatás és kárgyakoriság változás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2523960" y="2629080"/>
            <a:ext cx="639108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Grafikonokon jelenítjük meg a kárinfláció és a kárgyakoriság változását, összehasonlítva a Covid előtti és utáni időszakokat, kiemelve a zip-kód szintű területi hatásokat és normalizált mutatókat.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28600" y="88596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Díjszámítás és tarifa kialakítása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91429" y="261492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Díjszükséglet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számítás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zip-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szinten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és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exponenciális</a:t>
            </a: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 </a:t>
            </a:r>
            <a:r>
              <a:rPr lang="en-US" sz="26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simítással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323453" y="1945138"/>
            <a:ext cx="2442049" cy="263429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A díjszükséglet számításába beépítjük a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KKTA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adatokat (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KKTAGLM.R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), zip-szintű IVVR kárgyakoriságot, valamint távolsággal negatív exponenciális Bayes-simítást a pontosabb eredményekért.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Objektum 1">
            <a:extLst>
              <a:ext uri="{FF2B5EF4-FFF2-40B4-BE49-F238E27FC236}">
                <a16:creationId xmlns:a16="http://schemas.microsoft.com/office/drawing/2014/main" id="{32F20373-75AB-206D-F4FC-CA85FCB264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114029"/>
              </p:ext>
            </p:extLst>
          </p:nvPr>
        </p:nvGraphicFramePr>
        <p:xfrm>
          <a:off x="3062985" y="1460945"/>
          <a:ext cx="5248275" cy="342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248231" imgH="3421223" progId="PBrush">
                  <p:embed/>
                </p:oleObj>
              </mc:Choice>
              <mc:Fallback>
                <p:oleObj name="Bitmap Image" r:id="rId2" imgW="5248231" imgH="3421223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62985" y="1460945"/>
                        <a:ext cx="5248275" cy="3421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28600" y="885960"/>
            <a:ext cx="749592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Tarifa kialakítása: piaci minimumdíjak és célzott kárhányad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2523960" y="2629080"/>
            <a:ext cx="639108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A tarifa kialakítása figyelembe veszi a piaci minimumdíjakat és a célzott kárhányadot, egyelőre inkább kárkifizetésre. A tartalékok hatása még érdekes lehet.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Profit-weighted loss és veszteséges szerződések kezelése formulákkal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228600" y="2219400"/>
            <a:ext cx="4352400" cy="269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Az XGBoost GLM modelje mindenhol a díjak logaritmusával számol.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A3E4FB-9C09-9127-214A-B611AED6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Profitábilis szerződések: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B1DBC0D-13D3-D478-790D-7D8360AE822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350" y="228600"/>
            <a:ext cx="3875049" cy="4686120"/>
          </a:xfrm>
        </p:spPr>
        <p:txBody>
          <a:bodyPr/>
          <a:lstStyle/>
          <a:p>
            <a:r>
              <a:rPr lang="hu-HU" dirty="0" err="1"/>
              <a:t>tap</a:t>
            </a:r>
            <a:r>
              <a:rPr lang="hu-HU" dirty="0"/>
              <a:t> a díjszükséglet</a:t>
            </a:r>
          </a:p>
          <a:p>
            <a:r>
              <a:rPr lang="hu-HU" dirty="0"/>
              <a:t>p a </a:t>
            </a:r>
            <a:r>
              <a:rPr lang="hu-HU" dirty="0" err="1"/>
              <a:t>predikció</a:t>
            </a:r>
            <a:endParaRPr lang="hu-HU" dirty="0"/>
          </a:p>
          <a:p>
            <a:r>
              <a:rPr lang="hu-HU" dirty="0"/>
              <a:t>m a piaci minimum ár</a:t>
            </a:r>
          </a:p>
          <a:p>
            <a:r>
              <a:rPr lang="el-GR" dirty="0"/>
              <a:t>α</a:t>
            </a:r>
            <a:r>
              <a:rPr lang="hu-HU" dirty="0"/>
              <a:t>=0,005 (simító)</a:t>
            </a:r>
          </a:p>
          <a:p>
            <a:r>
              <a:rPr lang="hu-HU" dirty="0"/>
              <a:t>a=8,87002</a:t>
            </a:r>
          </a:p>
          <a:p>
            <a:r>
              <a:rPr lang="hu-HU" dirty="0"/>
              <a:t>b=8.32458</a:t>
            </a:r>
            <a:br>
              <a:rPr lang="hu-HU" dirty="0"/>
            </a:br>
            <a:r>
              <a:rPr lang="hu-HU" dirty="0"/>
              <a:t>(</a:t>
            </a:r>
            <a:r>
              <a:rPr lang="hu-HU" dirty="0" err="1"/>
              <a:t>a,b</a:t>
            </a:r>
            <a:r>
              <a:rPr lang="hu-HU" dirty="0"/>
              <a:t> a conversion modell alapján)</a:t>
            </a:r>
          </a:p>
        </p:txBody>
      </p:sp>
      <p:graphicFrame>
        <p:nvGraphicFramePr>
          <p:cNvPr id="4" name="Objektum 3">
            <a:extLst>
              <a:ext uri="{FF2B5EF4-FFF2-40B4-BE49-F238E27FC236}">
                <a16:creationId xmlns:a16="http://schemas.microsoft.com/office/drawing/2014/main" id="{66C5BB1D-80F7-DC86-CA0B-3B9F068BE0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877199"/>
              </p:ext>
            </p:extLst>
          </p:nvPr>
        </p:nvGraphicFramePr>
        <p:xfrm>
          <a:off x="91650" y="2195384"/>
          <a:ext cx="4752975" cy="267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753179" imgH="2675893" progId="PBrush">
                  <p:embed/>
                </p:oleObj>
              </mc:Choice>
              <mc:Fallback>
                <p:oleObj name="Bitmap Image" r:id="rId2" imgW="4753179" imgH="2675893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650" y="2195384"/>
                        <a:ext cx="4752975" cy="2676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5276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64C15-F1AA-3CD9-FEF2-FE8811470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562B55-BE48-48BC-9514-4108B604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Profitábilis szerződések: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352A300-284A-7E33-A7DA-C6B7E1BFA63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350" y="228600"/>
            <a:ext cx="3875049" cy="4686120"/>
          </a:xfrm>
        </p:spPr>
        <p:txBody>
          <a:bodyPr/>
          <a:lstStyle/>
          <a:p>
            <a:r>
              <a:rPr lang="hu-HU" sz="3200" dirty="0" err="1"/>
              <a:t>tap</a:t>
            </a:r>
            <a:r>
              <a:rPr lang="hu-HU" sz="3200" dirty="0"/>
              <a:t> a díjszükséglet</a:t>
            </a:r>
          </a:p>
          <a:p>
            <a:r>
              <a:rPr lang="hu-HU" sz="3200" dirty="0"/>
              <a:t>p a </a:t>
            </a:r>
            <a:r>
              <a:rPr lang="hu-HU" sz="3200" dirty="0" err="1"/>
              <a:t>predikció</a:t>
            </a:r>
            <a:endParaRPr lang="hu-HU" sz="3200" dirty="0"/>
          </a:p>
          <a:p>
            <a:r>
              <a:rPr lang="hu-HU" sz="3200" dirty="0"/>
              <a:t>m a piaci minimum </a:t>
            </a:r>
            <a:r>
              <a:rPr lang="hu-HU" sz="3200" dirty="0" err="1"/>
              <a:t>w</a:t>
            </a:r>
            <a:r>
              <a:rPr lang="hu-HU" sz="3200" baseline="-25000" dirty="0" err="1"/>
              <a:t>under</a:t>
            </a:r>
            <a:r>
              <a:rPr lang="hu-HU" sz="3200" dirty="0"/>
              <a:t>=100</a:t>
            </a:r>
          </a:p>
          <a:p>
            <a:pPr algn="just"/>
            <a:r>
              <a:rPr lang="hu-HU" sz="3200" dirty="0" err="1"/>
              <a:t>w</a:t>
            </a:r>
            <a:r>
              <a:rPr lang="hu-HU" sz="3200" baseline="-25000" dirty="0" err="1"/>
              <a:t>over</a:t>
            </a:r>
            <a:r>
              <a:rPr lang="hu-HU" sz="3200" dirty="0"/>
              <a:t>=5</a:t>
            </a:r>
          </a:p>
          <a:p>
            <a:pPr algn="just"/>
            <a:r>
              <a:rPr lang="hu-HU" sz="3200" dirty="0" err="1"/>
              <a:t>w</a:t>
            </a:r>
            <a:r>
              <a:rPr lang="hu-HU" sz="3200" baseline="-25000" dirty="0" err="1"/>
              <a:t>mid</a:t>
            </a:r>
            <a:r>
              <a:rPr lang="hu-HU" sz="3200" dirty="0"/>
              <a:t>=1</a:t>
            </a:r>
          </a:p>
          <a:p>
            <a:pPr algn="just"/>
            <a:r>
              <a:rPr lang="hu-HU" sz="3200" dirty="0" err="1"/>
              <a:t>w</a:t>
            </a:r>
            <a:r>
              <a:rPr lang="hu-HU" sz="3200" baseline="-25000" dirty="0" err="1"/>
              <a:t>high</a:t>
            </a:r>
            <a:r>
              <a:rPr lang="hu-HU" sz="3200" dirty="0"/>
              <a:t>=1</a:t>
            </a:r>
          </a:p>
          <a:p>
            <a:pPr algn="just"/>
            <a:r>
              <a:rPr lang="hu-HU" sz="3200" dirty="0" err="1"/>
              <a:t>w</a:t>
            </a:r>
            <a:r>
              <a:rPr lang="hu-HU" sz="3200" baseline="-25000" dirty="0" err="1"/>
              <a:t>low</a:t>
            </a:r>
            <a:r>
              <a:rPr lang="hu-HU" sz="3200" dirty="0"/>
              <a:t>=10</a:t>
            </a:r>
          </a:p>
          <a:p>
            <a:pPr algn="just"/>
            <a:endParaRPr lang="hu-HU" sz="3200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51CC7A3-C719-8518-9668-B6A508911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54" y="1622892"/>
            <a:ext cx="4486901" cy="2400635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D42BCC3-CA9F-D265-0D8D-7EB65BE25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4" y="4123253"/>
            <a:ext cx="4544059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044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D3236-85D4-64A7-76C4-761465C24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1D732C-FBFA-854B-0944-5731784E9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Profitábilis szerződések: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072D967-1B4F-568E-12A6-779F73BBB28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350" y="228600"/>
            <a:ext cx="3875049" cy="4686120"/>
          </a:xfrm>
        </p:spPr>
        <p:txBody>
          <a:bodyPr/>
          <a:lstStyle/>
          <a:p>
            <a:r>
              <a:rPr lang="hu-HU" sz="3200" dirty="0" err="1"/>
              <a:t>tap</a:t>
            </a:r>
            <a:r>
              <a:rPr lang="hu-HU" sz="3200" dirty="0"/>
              <a:t> a díjszükséglet</a:t>
            </a:r>
          </a:p>
          <a:p>
            <a:r>
              <a:rPr lang="hu-HU" sz="3200" dirty="0"/>
              <a:t>p a </a:t>
            </a:r>
            <a:r>
              <a:rPr lang="hu-HU" sz="3200" dirty="0" err="1"/>
              <a:t>predikció</a:t>
            </a:r>
            <a:endParaRPr lang="hu-HU" sz="3200" dirty="0"/>
          </a:p>
          <a:p>
            <a:r>
              <a:rPr lang="hu-HU" sz="3200" dirty="0"/>
              <a:t>m a piaci minimum </a:t>
            </a:r>
            <a:r>
              <a:rPr lang="hu-HU" sz="3200" dirty="0" err="1"/>
              <a:t>w</a:t>
            </a:r>
            <a:r>
              <a:rPr lang="hu-HU" sz="3200" baseline="-25000" dirty="0" err="1"/>
              <a:t>under</a:t>
            </a:r>
            <a:r>
              <a:rPr lang="hu-HU" sz="3200" dirty="0"/>
              <a:t>=100</a:t>
            </a:r>
          </a:p>
          <a:p>
            <a:pPr algn="just"/>
            <a:r>
              <a:rPr lang="hu-HU" sz="3200" dirty="0" err="1"/>
              <a:t>w</a:t>
            </a:r>
            <a:r>
              <a:rPr lang="hu-HU" sz="3200" baseline="-25000" dirty="0" err="1"/>
              <a:t>over</a:t>
            </a:r>
            <a:r>
              <a:rPr lang="hu-HU" sz="3200" dirty="0"/>
              <a:t>=5</a:t>
            </a:r>
          </a:p>
          <a:p>
            <a:pPr algn="just"/>
            <a:r>
              <a:rPr lang="hu-HU" sz="3200" dirty="0" err="1"/>
              <a:t>w</a:t>
            </a:r>
            <a:r>
              <a:rPr lang="hu-HU" sz="3200" baseline="-25000" dirty="0" err="1"/>
              <a:t>mid</a:t>
            </a:r>
            <a:r>
              <a:rPr lang="hu-HU" sz="3200" dirty="0"/>
              <a:t>=1</a:t>
            </a:r>
          </a:p>
          <a:p>
            <a:pPr algn="just"/>
            <a:r>
              <a:rPr lang="hu-HU" sz="3200" dirty="0" err="1"/>
              <a:t>w</a:t>
            </a:r>
            <a:r>
              <a:rPr lang="hu-HU" sz="3200" baseline="-25000" dirty="0" err="1"/>
              <a:t>high</a:t>
            </a:r>
            <a:r>
              <a:rPr lang="hu-HU" sz="3200" dirty="0"/>
              <a:t>=1</a:t>
            </a:r>
          </a:p>
          <a:p>
            <a:pPr algn="just"/>
            <a:r>
              <a:rPr lang="hu-HU" sz="3200" dirty="0" err="1"/>
              <a:t>w</a:t>
            </a:r>
            <a:r>
              <a:rPr lang="hu-HU" sz="3200" baseline="-25000" dirty="0" err="1"/>
              <a:t>low</a:t>
            </a:r>
            <a:r>
              <a:rPr lang="hu-HU" sz="3200" dirty="0"/>
              <a:t>=10</a:t>
            </a:r>
          </a:p>
          <a:p>
            <a:pPr algn="just"/>
            <a:endParaRPr lang="hu-HU" sz="32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BA34138-E988-1339-81D2-FE38870B0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85" y="2571660"/>
            <a:ext cx="4439270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16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837C-7B9F-2A29-14D3-084046238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12A6A2-A356-167B-9131-6A94C4A8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Veszteséges szerződések: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C54DD13-281D-D3C9-EE8D-789A6A863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51" y="1687798"/>
            <a:ext cx="3820058" cy="457264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308CF1CA-624A-6F2F-6BBF-5DEAD55DA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51" y="2383991"/>
            <a:ext cx="3229426" cy="1228896"/>
          </a:xfrm>
          <a:prstGeom prst="rect">
            <a:avLst/>
          </a:prstGeom>
        </p:spPr>
      </p:pic>
      <p:sp>
        <p:nvSpPr>
          <p:cNvPr id="11" name="Szöveg helye 2">
            <a:extLst>
              <a:ext uri="{FF2B5EF4-FFF2-40B4-BE49-F238E27FC236}">
                <a16:creationId xmlns:a16="http://schemas.microsoft.com/office/drawing/2014/main" id="{64C615D5-5D31-2425-33A4-32821DED6F9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040350" y="228600"/>
            <a:ext cx="3875049" cy="4686120"/>
          </a:xfrm>
        </p:spPr>
        <p:txBody>
          <a:bodyPr/>
          <a:lstStyle/>
          <a:p>
            <a:r>
              <a:rPr lang="hu-HU" sz="3200" dirty="0" err="1"/>
              <a:t>tap</a:t>
            </a:r>
            <a:r>
              <a:rPr lang="hu-HU" sz="3200" dirty="0"/>
              <a:t> a díjszükséglet</a:t>
            </a:r>
          </a:p>
          <a:p>
            <a:r>
              <a:rPr lang="hu-HU" sz="3200" dirty="0"/>
              <a:t>p a </a:t>
            </a:r>
            <a:r>
              <a:rPr lang="hu-HU" sz="3200" dirty="0" err="1"/>
              <a:t>predikció</a:t>
            </a:r>
            <a:endParaRPr lang="hu-HU" sz="3200" dirty="0"/>
          </a:p>
          <a:p>
            <a:r>
              <a:rPr lang="hu-HU" sz="3200" dirty="0"/>
              <a:t>m a piaci minimum </a:t>
            </a:r>
            <a:r>
              <a:rPr lang="hu-HU" sz="3200" dirty="0" err="1"/>
              <a:t>w</a:t>
            </a:r>
            <a:r>
              <a:rPr lang="hu-HU" sz="3200" baseline="-25000" dirty="0" err="1"/>
              <a:t>under</a:t>
            </a:r>
            <a:r>
              <a:rPr lang="hu-HU" sz="3200" dirty="0"/>
              <a:t>=100</a:t>
            </a:r>
          </a:p>
          <a:p>
            <a:pPr algn="just"/>
            <a:r>
              <a:rPr lang="hu-HU" sz="3200" dirty="0" err="1"/>
              <a:t>w</a:t>
            </a:r>
            <a:r>
              <a:rPr lang="hu-HU" sz="3200" baseline="-25000" dirty="0" err="1"/>
              <a:t>over</a:t>
            </a:r>
            <a:r>
              <a:rPr lang="hu-HU" sz="3200" dirty="0"/>
              <a:t>=5</a:t>
            </a:r>
          </a:p>
          <a:p>
            <a:pPr algn="just"/>
            <a:r>
              <a:rPr lang="hu-HU" sz="3200" dirty="0" err="1"/>
              <a:t>w</a:t>
            </a:r>
            <a:r>
              <a:rPr lang="hu-HU" sz="3200" baseline="-25000" dirty="0" err="1"/>
              <a:t>mid</a:t>
            </a:r>
            <a:r>
              <a:rPr lang="hu-HU" sz="3200" dirty="0"/>
              <a:t>=1</a:t>
            </a:r>
          </a:p>
          <a:p>
            <a:pPr algn="just"/>
            <a:r>
              <a:rPr lang="hu-HU" sz="3200" dirty="0" err="1"/>
              <a:t>w</a:t>
            </a:r>
            <a:r>
              <a:rPr lang="hu-HU" sz="3200" baseline="-25000" dirty="0" err="1"/>
              <a:t>high</a:t>
            </a:r>
            <a:r>
              <a:rPr lang="hu-HU" sz="3200" dirty="0"/>
              <a:t>=1</a:t>
            </a:r>
          </a:p>
          <a:p>
            <a:pPr algn="just"/>
            <a:r>
              <a:rPr lang="hu-HU" sz="3200" dirty="0" err="1"/>
              <a:t>w</a:t>
            </a:r>
            <a:r>
              <a:rPr lang="hu-HU" sz="3200" baseline="-25000" dirty="0" err="1"/>
              <a:t>low</a:t>
            </a:r>
            <a:r>
              <a:rPr lang="hu-HU" sz="3200" dirty="0"/>
              <a:t>=10</a:t>
            </a:r>
          </a:p>
          <a:p>
            <a:pPr algn="just"/>
            <a:endParaRPr lang="hu-HU" sz="3200" dirty="0"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5F95D8C0-E9D6-FB73-9825-E307C43959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51" y="3771560"/>
            <a:ext cx="2105319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11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Space Grotesk"/>
              </a:rPr>
              <a:t>Összefoglalás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228600" y="2219400"/>
            <a:ext cx="4352400" cy="269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A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prezentáció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bemutatta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a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kárinfláció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és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covid-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korrekciók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kezelését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, a zip-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szintű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díjszükséglet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számítását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,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valamint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a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piaci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minimum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és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célzott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kárhányad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alapú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tarifakialakítást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,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amelyek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együttesen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támogatják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a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profitoptimalizált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díjszámítást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Hind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65" name="Google Shape;189;p30"/>
          <p:cNvPicPr/>
          <p:nvPr/>
        </p:nvPicPr>
        <p:blipFill>
          <a:blip r:embed="rId2"/>
          <a:srcRect l="6496" r="5217"/>
          <a:stretch/>
        </p:blipFill>
        <p:spPr>
          <a:xfrm>
            <a:off x="4778280" y="228600"/>
            <a:ext cx="4136760" cy="468612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rk Theme by Slidesgo">
  <a:themeElements>
    <a:clrScheme name="Simple Light">
      <a:dk1>
        <a:srgbClr val="FFFFFF"/>
      </a:dk1>
      <a:lt1>
        <a:srgbClr val="0D0D0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364</Words>
  <Application>Microsoft Office PowerPoint</Application>
  <PresentationFormat>Diavetítés a képernyőre (16:9 oldalarány)</PresentationFormat>
  <Paragraphs>52</Paragraphs>
  <Slides>15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2</vt:i4>
      </vt:variant>
      <vt:variant>
        <vt:lpstr>Beágyazott OLE kiszolgálók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5" baseType="lpstr">
      <vt:lpstr>Arial</vt:lpstr>
      <vt:lpstr>Calibri</vt:lpstr>
      <vt:lpstr>Hind</vt:lpstr>
      <vt:lpstr>OpenSymbol</vt:lpstr>
      <vt:lpstr>Space Grotesk</vt:lpstr>
      <vt:lpstr>Symbol</vt:lpstr>
      <vt:lpstr>Wingdings</vt:lpstr>
      <vt:lpstr>Dark Theme by Slidesgo</vt:lpstr>
      <vt:lpstr>Slidesgo Final Pages</vt:lpstr>
      <vt:lpstr>Bitmap Image</vt:lpstr>
      <vt:lpstr>Profit-optimalizált díjszámítás</vt:lpstr>
      <vt:lpstr>Bevezetés</vt:lpstr>
      <vt:lpstr>Kárinfláció és kárgyakoriság kezelése</vt:lpstr>
      <vt:lpstr>Kárinfláció diszkontálása és ELTÉs implementáció</vt:lpstr>
      <vt:lpstr>Kárgyakoriság covid-hatás semlegesítése</vt:lpstr>
      <vt:lpstr>Vizualizációk: inflációs hatás és kárgyakoriság változás</vt:lpstr>
      <vt:lpstr>Díjszámítás és tarifa kialakítása</vt:lpstr>
      <vt:lpstr>Díjszükséglet számítás zip-szinten és exponenciális simítással</vt:lpstr>
      <vt:lpstr>Tarifa kialakítása: piaci minimumdíjak és célzott kárhányad</vt:lpstr>
      <vt:lpstr>Profit-weighted loss és veszteséges szerződések kezelése formulákkal</vt:lpstr>
      <vt:lpstr>Profitábilis szerződések:</vt:lpstr>
      <vt:lpstr>Profitábilis szerződések:</vt:lpstr>
      <vt:lpstr>Profitábilis szerződések:</vt:lpstr>
      <vt:lpstr>Veszteséges szerződések:</vt:lpstr>
      <vt:lpstr>Összefoglalás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Marton Péter</cp:lastModifiedBy>
  <cp:revision>1</cp:revision>
  <dcterms:modified xsi:type="dcterms:W3CDTF">2025-09-04T10:43:14Z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2025-09-04T10:11:02Z</dcterms:created>
  <dc:creator>Unknown Creator</dc:creator>
  <dc:description/>
  <dc:language>en-US</dc:language>
  <cp:lastModifiedBy>Unknown Creator</cp:lastModifiedBy>
  <dcterms:modified xsi:type="dcterms:W3CDTF">2025-09-04T10:11:02Z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